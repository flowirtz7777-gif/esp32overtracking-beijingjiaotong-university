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6" r:id="rId5"/>
    <p:sldId id="258" r:id="rId6"/>
    <p:sldId id="279" r:id="rId7"/>
    <p:sldId id="259" r:id="rId8"/>
    <p:sldId id="260" r:id="rId9"/>
    <p:sldId id="280" r:id="rId10"/>
    <p:sldId id="261" r:id="rId11"/>
    <p:sldId id="281" r:id="rId12"/>
    <p:sldId id="262" r:id="rId13"/>
    <p:sldId id="263" r:id="rId14"/>
    <p:sldId id="265" r:id="rId15"/>
    <p:sldId id="266" r:id="rId16"/>
    <p:sldId id="267" r:id="rId17"/>
    <p:sldId id="268" r:id="rId18"/>
    <p:sldId id="269" r:id="rId19"/>
    <p:sldId id="282" r:id="rId20"/>
    <p:sldId id="273" r:id="rId21"/>
    <p:sldId id="283" r:id="rId22"/>
    <p:sldId id="274" r:id="rId23"/>
    <p:sldId id="275" r:id="rId24"/>
    <p:sldId id="285" r:id="rId25"/>
    <p:sldId id="286" r:id="rId2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D"/>
    <a:srgbClr val="FFFFFF"/>
    <a:srgbClr val="FBF6F6"/>
    <a:srgbClr val="F0F5F9"/>
    <a:srgbClr val="FEFEFE"/>
    <a:srgbClr val="F4F7FB"/>
    <a:srgbClr val="C4B1A0"/>
    <a:srgbClr val="FCFCFC"/>
    <a:srgbClr val="FBFCFD"/>
    <a:srgbClr val="F9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0" Type="http://schemas.openxmlformats.org/officeDocument/2006/relationships/vmlDrawing" Target="../drawings/vmlDrawing1.v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7.png"/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:/Users/Admin/Desktop/小挑资料/generated_render/codex_ppt_first5/origin_image/slide_01.pngslide_01"/>
          <p:cNvPicPr>
            <a:picLocks noChangeAspect="1"/>
          </p:cNvPicPr>
          <p:nvPr/>
        </p:nvPicPr>
        <p:blipFill>
          <a:blip r:embed="rId1"/>
          <a:srcRect t="5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7787005" y="3128010"/>
            <a:ext cx="3185160" cy="1059180"/>
          </a:xfrm>
          <a:custGeom>
            <a:avLst/>
            <a:gdLst>
              <a:gd name="connisteX0" fmla="*/ 0 w 3185160"/>
              <a:gd name="connsiteY0" fmla="*/ 1059180 h 1059180"/>
              <a:gd name="connisteX1" fmla="*/ 3185160 w 3185160"/>
              <a:gd name="connsiteY1" fmla="*/ 30480 h 1059180"/>
              <a:gd name="connisteX2" fmla="*/ 1493520 w 3185160"/>
              <a:gd name="connsiteY2" fmla="*/ 0 h 1059180"/>
              <a:gd name="connisteX3" fmla="*/ 0 w 3185160"/>
              <a:gd name="connsiteY3" fmla="*/ 1059180 h 10591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185160" h="1059180">
                <a:moveTo>
                  <a:pt x="0" y="1059180"/>
                </a:moveTo>
                <a:lnTo>
                  <a:pt x="3185160" y="30480"/>
                </a:lnTo>
                <a:lnTo>
                  <a:pt x="1493520" y="0"/>
                </a:lnTo>
                <a:lnTo>
                  <a:pt x="0" y="1059180"/>
                </a:lnTo>
                <a:close/>
              </a:path>
            </a:pathLst>
          </a:custGeom>
          <a:solidFill>
            <a:srgbClr val="FFFF00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7832725" y="3128645"/>
            <a:ext cx="2339340" cy="1028065"/>
          </a:xfrm>
          <a:custGeom>
            <a:avLst/>
            <a:gdLst>
              <a:gd name="connisteX0" fmla="*/ 0 w 2339340"/>
              <a:gd name="connsiteY0" fmla="*/ 1021080 h 1021080"/>
              <a:gd name="connisteX1" fmla="*/ 1440180 w 2339340"/>
              <a:gd name="connsiteY1" fmla="*/ 0 h 1021080"/>
              <a:gd name="connisteX2" fmla="*/ 2339340 w 2339340"/>
              <a:gd name="connsiteY2" fmla="*/ 7620 h 1021080"/>
              <a:gd name="connisteX3" fmla="*/ 45720 w 2339340"/>
              <a:gd name="connsiteY3" fmla="*/ 998220 h 1021080"/>
              <a:gd name="connisteX4" fmla="*/ 38100 w 2339340"/>
              <a:gd name="connsiteY4" fmla="*/ 982980 h 10210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339340" h="1021080">
                <a:moveTo>
                  <a:pt x="0" y="1021080"/>
                </a:moveTo>
                <a:lnTo>
                  <a:pt x="1440180" y="0"/>
                </a:lnTo>
                <a:lnTo>
                  <a:pt x="2339340" y="7620"/>
                </a:lnTo>
                <a:lnTo>
                  <a:pt x="45720" y="998220"/>
                </a:lnTo>
                <a:lnTo>
                  <a:pt x="38100" y="982980"/>
                </a:lnTo>
              </a:path>
            </a:pathLst>
          </a:custGeom>
          <a:solidFill>
            <a:srgbClr val="FFC000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7840345" y="3128010"/>
            <a:ext cx="1828800" cy="1036320"/>
          </a:xfrm>
          <a:custGeom>
            <a:avLst/>
            <a:gdLst>
              <a:gd name="connisteX0" fmla="*/ 0 w 1828800"/>
              <a:gd name="connsiteY0" fmla="*/ 1036320 h 1036320"/>
              <a:gd name="connisteX1" fmla="*/ 1424940 w 1828800"/>
              <a:gd name="connsiteY1" fmla="*/ 7620 h 1036320"/>
              <a:gd name="connisteX2" fmla="*/ 1828800 w 1828800"/>
              <a:gd name="connsiteY2" fmla="*/ 0 h 1036320"/>
              <a:gd name="connisteX3" fmla="*/ 0 w 1828800"/>
              <a:gd name="connsiteY3" fmla="*/ 1036320 h 10363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828800" h="1036320">
                <a:moveTo>
                  <a:pt x="0" y="1036320"/>
                </a:moveTo>
                <a:lnTo>
                  <a:pt x="1424940" y="7620"/>
                </a:lnTo>
                <a:lnTo>
                  <a:pt x="1828800" y="0"/>
                </a:lnTo>
                <a:lnTo>
                  <a:pt x="0" y="1036320"/>
                </a:lnTo>
                <a:close/>
              </a:path>
            </a:pathLst>
          </a:custGeom>
          <a:solidFill>
            <a:srgbClr val="FF0000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1365" y="4561205"/>
            <a:ext cx="3901440" cy="291465"/>
          </a:xfrm>
          <a:prstGeom prst="rect">
            <a:avLst/>
          </a:prstGeom>
          <a:solidFill>
            <a:srgbClr val="F1F2F7"/>
          </a:solidFill>
        </p:spPr>
        <p:txBody>
          <a:bodyPr wrap="square" rtlCol="0">
            <a:spAutoFit/>
          </a:bodyPr>
          <a:p>
            <a:r>
              <a:rPr lang="zh-CN" altLang="en-US" sz="1300" b="1">
                <a:solidFill>
                  <a:srgbClr val="02378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项目负责人：</a:t>
            </a:r>
            <a:r>
              <a:rPr lang="zh-CN" altLang="en-US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关霁恩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(24723009)</a:t>
            </a:r>
            <a:endParaRPr lang="en-US" altLang="zh-CN" sz="13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1365" y="4881245"/>
            <a:ext cx="4914900" cy="290830"/>
          </a:xfrm>
          <a:prstGeom prst="rect">
            <a:avLst/>
          </a:prstGeom>
          <a:solidFill>
            <a:srgbClr val="F1F2F7"/>
          </a:solidFill>
        </p:spPr>
        <p:txBody>
          <a:bodyPr wrap="square" rtlCol="0">
            <a:noAutofit/>
          </a:bodyPr>
          <a:p>
            <a:r>
              <a:rPr lang="zh-CN" altLang="en-US" sz="1300" b="1">
                <a:solidFill>
                  <a:srgbClr val="02378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项目成员：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柯依宁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(24721010)   </a:t>
            </a:r>
            <a:r>
              <a:rPr lang="zh-CN" altLang="en-US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倪好儿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25723019</a:t>
            </a:r>
            <a:r>
              <a:rPr lang="zh-CN" altLang="en-US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13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1365" y="5200650"/>
            <a:ext cx="4914900" cy="290830"/>
          </a:xfrm>
          <a:prstGeom prst="rect">
            <a:avLst/>
          </a:prstGeom>
          <a:solidFill>
            <a:srgbClr val="F1F2F7"/>
          </a:solidFill>
        </p:spPr>
        <p:txBody>
          <a:bodyPr wrap="square" rtlCol="0">
            <a:noAutofit/>
          </a:bodyPr>
          <a:p>
            <a:r>
              <a:rPr lang="zh-CN" altLang="en-US" sz="1300" b="1">
                <a:solidFill>
                  <a:srgbClr val="02378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指导教师：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张立伟</a:t>
            </a:r>
            <a:endParaRPr lang="zh-CN" altLang="en-US" sz="13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5125" y="3775710"/>
            <a:ext cx="5311140" cy="703580"/>
          </a:xfrm>
          <a:prstGeom prst="rect">
            <a:avLst/>
          </a:prstGeom>
          <a:solidFill>
            <a:srgbClr val="F2F2F6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35885" y="339090"/>
            <a:ext cx="26289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06345" y="363855"/>
            <a:ext cx="4259580" cy="451485"/>
          </a:xfrm>
          <a:prstGeom prst="rect">
            <a:avLst/>
          </a:prstGeom>
          <a:solidFill>
            <a:srgbClr val="F1F2F7"/>
          </a:solidFill>
        </p:spPr>
        <p:txBody>
          <a:bodyPr wrap="square" rtlCol="0">
            <a:noAutofit/>
          </a:bodyPr>
          <a:p>
            <a:r>
              <a:rPr lang="zh-CN" altLang="en-US" sz="1300">
                <a:solidFill>
                  <a:srgbClr val="04255E"/>
                </a:solidFill>
                <a:latin typeface="黑体" panose="02010609060101010101" charset="-122"/>
                <a:ea typeface="黑体" panose="02010609060101010101" charset="-122"/>
              </a:rPr>
              <a:t>大学生创新创业训练计划项目开题答辩</a:t>
            </a:r>
            <a:endParaRPr lang="zh-CN" altLang="en-US" sz="1300">
              <a:solidFill>
                <a:srgbClr val="04255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5125" y="0"/>
            <a:ext cx="1960245" cy="837565"/>
          </a:xfrm>
          <a:prstGeom prst="rect">
            <a:avLst/>
          </a:prstGeom>
          <a:solidFill>
            <a:srgbClr val="F1F2F7"/>
          </a:solidFill>
        </p:spPr>
        <p:txBody>
          <a:bodyPr wrap="square" rtlCol="0">
            <a:noAutofit/>
          </a:bodyPr>
          <a:p>
            <a:endParaRPr lang="zh-CN" altLang="en-US" sz="1300">
              <a:solidFill>
                <a:srgbClr val="04255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231140"/>
            <a:ext cx="21844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0675" y="5603875"/>
            <a:ext cx="11745595" cy="7893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580" y="2527935"/>
            <a:ext cx="1244600" cy="21520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148205" y="293370"/>
            <a:ext cx="4259580" cy="2914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 sz="1300">
              <a:solidFill>
                <a:srgbClr val="082A7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6325" y="1786890"/>
            <a:ext cx="12496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0365" y="4952365"/>
            <a:ext cx="967740" cy="5632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86205" y="5116830"/>
            <a:ext cx="249936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85" y="62865"/>
            <a:ext cx="2113280" cy="6311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19860" y="4019550"/>
            <a:ext cx="2903220" cy="35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1700">
                <a:solidFill>
                  <a:srgbClr val="082A66"/>
                </a:solidFill>
                <a:latin typeface="黑体" panose="02010609060101010101" charset="-122"/>
                <a:ea typeface="黑体" panose="02010609060101010101" charset="-122"/>
              </a:rPr>
              <a:t>创新点与项目特色</a:t>
            </a:r>
            <a:endParaRPr lang="zh-CN" altLang="en-US" sz="1700">
              <a:solidFill>
                <a:srgbClr val="082A6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7515" y="1085215"/>
            <a:ext cx="11511280" cy="401828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800350" y="784860"/>
            <a:ext cx="9391650" cy="5762625"/>
          </a:xfrm>
          <a:prstGeom prst="rect">
            <a:avLst/>
          </a:prstGeom>
          <a:gradFill flip="none">
            <a:gsLst>
              <a:gs pos="97000">
                <a:schemeClr val="tx2"/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1285" y="2880995"/>
            <a:ext cx="25380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BRAND_FILL"/>
          <p:cNvSpPr/>
          <p:nvPr>
            <p:custDataLst>
              <p:tags r:id="rId4"/>
            </p:custDataLst>
          </p:nvPr>
        </p:nvSpPr>
        <p:spPr>
          <a:xfrm>
            <a:off x="3260385" y="1031222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A5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023787"/>
                </a:solidFill>
                <a:cs typeface="+mn-ea"/>
                <a:sym typeface="+mn-lt"/>
              </a:rPr>
              <a:t>01</a:t>
            </a:r>
            <a:endParaRPr lang="en-US" altLang="zh-CN" b="1" dirty="0">
              <a:solidFill>
                <a:srgbClr val="023787"/>
              </a:solidFill>
              <a:cs typeface="+mn-ea"/>
              <a:sym typeface="+mn-lt"/>
            </a:endParaRPr>
          </a:p>
        </p:txBody>
      </p:sp>
      <p:sp>
        <p:nvSpPr>
          <p:cNvPr id="21" name="BRAND_FILL"/>
          <p:cNvSpPr/>
          <p:nvPr>
            <p:custDataLst>
              <p:tags r:id="rId5"/>
            </p:custDataLst>
          </p:nvPr>
        </p:nvSpPr>
        <p:spPr>
          <a:xfrm>
            <a:off x="3260385" y="1893102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A5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023787"/>
                </a:solidFill>
                <a:cs typeface="+mn-ea"/>
                <a:sym typeface="+mn-lt"/>
              </a:rPr>
              <a:t>02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2" name="BRAND_FILL"/>
          <p:cNvSpPr/>
          <p:nvPr>
            <p:custDataLst>
              <p:tags r:id="rId6"/>
            </p:custDataLst>
          </p:nvPr>
        </p:nvSpPr>
        <p:spPr>
          <a:xfrm>
            <a:off x="3264195" y="2694657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A5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023787"/>
                </a:solidFill>
                <a:cs typeface="+mn-ea"/>
                <a:sym typeface="+mn-lt"/>
              </a:rPr>
              <a:t>03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3" name="BRAND_FILL"/>
          <p:cNvSpPr/>
          <p:nvPr>
            <p:custDataLst>
              <p:tags r:id="rId7"/>
            </p:custDataLst>
          </p:nvPr>
        </p:nvSpPr>
        <p:spPr>
          <a:xfrm>
            <a:off x="3260385" y="3534312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A5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023787"/>
                </a:solidFill>
                <a:cs typeface="+mn-ea"/>
                <a:sym typeface="+mn-lt"/>
              </a:rPr>
              <a:t>04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4" name="BRAND_FILL"/>
          <p:cNvSpPr/>
          <p:nvPr>
            <p:custDataLst>
              <p:tags r:id="rId8"/>
            </p:custDataLst>
          </p:nvPr>
        </p:nvSpPr>
        <p:spPr>
          <a:xfrm>
            <a:off x="3260385" y="4374604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A5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023787"/>
                </a:solidFill>
                <a:cs typeface="+mn-ea"/>
                <a:sym typeface="+mn-lt"/>
              </a:rPr>
              <a:t>05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5" name="BRAND_FILL"/>
          <p:cNvSpPr/>
          <p:nvPr>
            <p:custDataLst>
              <p:tags r:id="rId9"/>
            </p:custDataLst>
          </p:nvPr>
        </p:nvSpPr>
        <p:spPr>
          <a:xfrm>
            <a:off x="3260385" y="5214709"/>
            <a:ext cx="576000" cy="577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A5A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023787"/>
                </a:solidFill>
                <a:cs typeface="+mn-ea"/>
                <a:sym typeface="+mn-lt"/>
              </a:rPr>
              <a:t>06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4025900" y="1085215"/>
            <a:ext cx="378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研究背景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4025900" y="1951355"/>
            <a:ext cx="378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既有方案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与关键不足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4025900" y="2716530"/>
            <a:ext cx="378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项目目标与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研究内容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4025900" y="3603625"/>
            <a:ext cx="378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技术路线与系统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架构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4025900" y="4432935"/>
            <a:ext cx="378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创新点与项目特色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4025900" y="5255895"/>
            <a:ext cx="378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项目实施计划与预期成果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58440" y="2815590"/>
            <a:ext cx="697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  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研究背景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6370" y="197485"/>
            <a:ext cx="3357245" cy="7334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1532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997075" y="276225"/>
            <a:ext cx="2599690" cy="417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35550" y="1546225"/>
            <a:ext cx="7067550" cy="4940300"/>
          </a:xfrm>
          <a:prstGeom prst="rect">
            <a:avLst/>
          </a:prstGeom>
          <a:solidFill>
            <a:srgbClr val="F6F6F6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0" y="3255645"/>
            <a:ext cx="4610100" cy="1148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065" y="4636770"/>
            <a:ext cx="4040505" cy="1653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335" y="1686560"/>
            <a:ext cx="4572635" cy="144399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997075" y="207010"/>
            <a:ext cx="10196830" cy="415290"/>
            <a:chOff x="3141" y="326"/>
            <a:chExt cx="16058" cy="654"/>
          </a:xfrm>
        </p:grpSpPr>
        <p:sp>
          <p:nvSpPr>
            <p:cNvPr id="12" name="文本框 11"/>
            <p:cNvSpPr txBox="1"/>
            <p:nvPr/>
          </p:nvSpPr>
          <p:spPr>
            <a:xfrm>
              <a:off x="3805" y="326"/>
              <a:ext cx="1321" cy="65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141" y="435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58440" y="2815590"/>
            <a:ext cx="697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  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既有方案与关键不足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87905" y="2311400"/>
            <a:ext cx="2042795" cy="267970"/>
          </a:xfrm>
          <a:prstGeom prst="rect">
            <a:avLst/>
          </a:prstGeom>
          <a:solidFill>
            <a:srgbClr val="F9F9F7"/>
          </a:solidFill>
        </p:spPr>
        <p:txBody>
          <a:bodyPr wrap="square" rtlCol="0">
            <a:noAutofit/>
          </a:bodyPr>
          <a:p>
            <a:r>
              <a:rPr lang="zh-CN" altLang="en-US" sz="1100" b="1">
                <a:solidFill>
                  <a:srgbClr val="535760"/>
                </a:solidFill>
                <a:latin typeface="黑体" panose="02010609060101010101" charset="-122"/>
                <a:ea typeface="黑体" panose="02010609060101010101" charset="-122"/>
              </a:rPr>
              <a:t>依赖雷达或视觉检测近旁目标</a:t>
            </a:r>
            <a:endParaRPr lang="zh-CN" altLang="en-US" sz="1100" b="1">
              <a:solidFill>
                <a:srgbClr val="5357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7905" y="3186430"/>
            <a:ext cx="2042795" cy="484505"/>
          </a:xfrm>
          <a:prstGeom prst="rect">
            <a:avLst/>
          </a:prstGeom>
          <a:solidFill>
            <a:srgbClr val="F8F9F8"/>
          </a:solidFill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100" b="1">
                <a:solidFill>
                  <a:srgbClr val="535760"/>
                </a:solidFill>
                <a:latin typeface="黑体" panose="02010609060101010101" charset="-122"/>
                <a:ea typeface="黑体" panose="02010609060101010101" charset="-122"/>
              </a:rPr>
              <a:t>依据车辆外廓或固定安全带给出提示</a:t>
            </a:r>
            <a:endParaRPr lang="zh-CN" altLang="en-US" sz="1100" b="1">
              <a:solidFill>
                <a:srgbClr val="5357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7905" y="4194810"/>
            <a:ext cx="2042795" cy="484505"/>
          </a:xfrm>
          <a:prstGeom prst="rect">
            <a:avLst/>
          </a:prstGeom>
          <a:solidFill>
            <a:srgbClr val="F9F9F7"/>
          </a:solidFill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100" b="1">
                <a:solidFill>
                  <a:srgbClr val="535760"/>
                </a:solidFill>
                <a:latin typeface="黑体" panose="02010609060101010101" charset="-122"/>
                <a:ea typeface="黑体" panose="02010609060101010101" charset="-122"/>
              </a:rPr>
              <a:t>用牵引车或自行车模型近似转弯轨迹</a:t>
            </a:r>
            <a:endParaRPr lang="zh-CN" altLang="en-US" sz="1100" b="1">
              <a:solidFill>
                <a:srgbClr val="5357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7905" y="5202555"/>
            <a:ext cx="2042795" cy="611505"/>
          </a:xfrm>
          <a:prstGeom prst="rect">
            <a:avLst/>
          </a:prstGeom>
          <a:solidFill>
            <a:srgbClr val="F8F8F7"/>
          </a:solidFill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100" b="1">
                <a:solidFill>
                  <a:srgbClr val="535760"/>
                </a:solidFill>
                <a:latin typeface="黑体" panose="02010609060101010101" charset="-122"/>
                <a:ea typeface="黑体" panose="02010609060101010101" charset="-122"/>
              </a:rPr>
              <a:t>生成参考轨迹或控制输入</a:t>
            </a:r>
            <a:endParaRPr lang="zh-CN" altLang="en-US" sz="1100" b="1">
              <a:solidFill>
                <a:srgbClr val="5357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679565" y="2130425"/>
            <a:ext cx="4886325" cy="2499995"/>
          </a:xfrm>
          <a:prstGeom prst="rect">
            <a:avLst/>
          </a:prstGeom>
        </p:spPr>
      </p:pic>
      <p:sp>
        <p:nvSpPr>
          <p:cNvPr id="11" name="任意多边形 10"/>
          <p:cNvSpPr/>
          <p:nvPr/>
        </p:nvSpPr>
        <p:spPr>
          <a:xfrm>
            <a:off x="9568815" y="2847340"/>
            <a:ext cx="628650" cy="1198880"/>
          </a:xfrm>
          <a:custGeom>
            <a:avLst/>
            <a:gdLst>
              <a:gd name="connisteX0" fmla="*/ 0 w 628650"/>
              <a:gd name="connsiteY0" fmla="*/ 1209675 h 1209675"/>
              <a:gd name="connisteX1" fmla="*/ 23495 w 628650"/>
              <a:gd name="connsiteY1" fmla="*/ 1145540 h 1209675"/>
              <a:gd name="connisteX2" fmla="*/ 47625 w 628650"/>
              <a:gd name="connsiteY2" fmla="*/ 1081405 h 1209675"/>
              <a:gd name="connisteX3" fmla="*/ 73660 w 628650"/>
              <a:gd name="connsiteY3" fmla="*/ 1017270 h 1209675"/>
              <a:gd name="connisteX4" fmla="*/ 97155 w 628650"/>
              <a:gd name="connsiteY4" fmla="*/ 952500 h 1209675"/>
              <a:gd name="connisteX5" fmla="*/ 123825 w 628650"/>
              <a:gd name="connsiteY5" fmla="*/ 888365 h 1209675"/>
              <a:gd name="connisteX6" fmla="*/ 147320 w 628650"/>
              <a:gd name="connsiteY6" fmla="*/ 824230 h 1209675"/>
              <a:gd name="connisteX7" fmla="*/ 178435 w 628650"/>
              <a:gd name="connsiteY7" fmla="*/ 760095 h 1209675"/>
              <a:gd name="connisteX8" fmla="*/ 213995 w 628650"/>
              <a:gd name="connsiteY8" fmla="*/ 695325 h 1209675"/>
              <a:gd name="connisteX9" fmla="*/ 242570 w 628650"/>
              <a:gd name="connsiteY9" fmla="*/ 631190 h 1209675"/>
              <a:gd name="connisteX10" fmla="*/ 266700 w 628650"/>
              <a:gd name="connsiteY10" fmla="*/ 567055 h 1209675"/>
              <a:gd name="connisteX11" fmla="*/ 292735 w 628650"/>
              <a:gd name="connsiteY11" fmla="*/ 502920 h 1209675"/>
              <a:gd name="connisteX12" fmla="*/ 318770 w 628650"/>
              <a:gd name="connsiteY12" fmla="*/ 438150 h 1209675"/>
              <a:gd name="connisteX13" fmla="*/ 349885 w 628650"/>
              <a:gd name="connsiteY13" fmla="*/ 374015 h 1209675"/>
              <a:gd name="connisteX14" fmla="*/ 382905 w 628650"/>
              <a:gd name="connsiteY14" fmla="*/ 309880 h 1209675"/>
              <a:gd name="connisteX15" fmla="*/ 421005 w 628650"/>
              <a:gd name="connsiteY15" fmla="*/ 245745 h 1209675"/>
              <a:gd name="connisteX16" fmla="*/ 459105 w 628650"/>
              <a:gd name="connsiteY16" fmla="*/ 180975 h 1209675"/>
              <a:gd name="connisteX17" fmla="*/ 499745 w 628650"/>
              <a:gd name="connsiteY17" fmla="*/ 116840 h 1209675"/>
              <a:gd name="connisteX18" fmla="*/ 540385 w 628650"/>
              <a:gd name="connsiteY18" fmla="*/ 52705 h 1209675"/>
              <a:gd name="connisteX19" fmla="*/ 604520 w 628650"/>
              <a:gd name="connsiteY19" fmla="*/ 0 h 1209675"/>
              <a:gd name="connisteX20" fmla="*/ 628650 w 628650"/>
              <a:gd name="connsiteY20" fmla="*/ 64770 h 1209675"/>
              <a:gd name="connisteX21" fmla="*/ 626110 w 628650"/>
              <a:gd name="connsiteY21" fmla="*/ 128905 h 1209675"/>
              <a:gd name="connisteX22" fmla="*/ 607060 w 628650"/>
              <a:gd name="connsiteY22" fmla="*/ 193040 h 1209675"/>
              <a:gd name="connisteX23" fmla="*/ 585470 w 628650"/>
              <a:gd name="connsiteY23" fmla="*/ 257175 h 1209675"/>
              <a:gd name="connisteX24" fmla="*/ 561975 w 628650"/>
              <a:gd name="connsiteY24" fmla="*/ 321945 h 1209675"/>
              <a:gd name="connisteX25" fmla="*/ 537845 w 628650"/>
              <a:gd name="connsiteY25" fmla="*/ 386080 h 1209675"/>
              <a:gd name="connisteX26" fmla="*/ 514350 w 628650"/>
              <a:gd name="connsiteY26" fmla="*/ 450215 h 1209675"/>
              <a:gd name="connisteX27" fmla="*/ 495300 w 628650"/>
              <a:gd name="connsiteY27" fmla="*/ 514350 h 1209675"/>
              <a:gd name="connisteX28" fmla="*/ 478155 w 628650"/>
              <a:gd name="connsiteY28" fmla="*/ 579120 h 1209675"/>
              <a:gd name="connisteX29" fmla="*/ 459105 w 628650"/>
              <a:gd name="connsiteY29" fmla="*/ 643255 h 1209675"/>
              <a:gd name="connisteX30" fmla="*/ 435610 w 628650"/>
              <a:gd name="connsiteY30" fmla="*/ 707390 h 1209675"/>
              <a:gd name="connisteX31" fmla="*/ 414020 w 628650"/>
              <a:gd name="connsiteY31" fmla="*/ 771525 h 1209675"/>
              <a:gd name="connisteX32" fmla="*/ 392430 w 628650"/>
              <a:gd name="connsiteY32" fmla="*/ 836295 h 1209675"/>
              <a:gd name="connisteX33" fmla="*/ 373380 w 628650"/>
              <a:gd name="connsiteY33" fmla="*/ 900430 h 1209675"/>
              <a:gd name="connisteX34" fmla="*/ 349885 w 628650"/>
              <a:gd name="connsiteY34" fmla="*/ 964565 h 1209675"/>
              <a:gd name="connisteX35" fmla="*/ 325755 w 628650"/>
              <a:gd name="connsiteY35" fmla="*/ 1028700 h 1209675"/>
              <a:gd name="connisteX36" fmla="*/ 299720 w 628650"/>
              <a:gd name="connsiteY36" fmla="*/ 1093470 h 1209675"/>
              <a:gd name="connisteX37" fmla="*/ 271145 w 628650"/>
              <a:gd name="connsiteY37" fmla="*/ 1157605 h 1209675"/>
              <a:gd name="connisteX38" fmla="*/ 235585 w 628650"/>
              <a:gd name="connsiteY38" fmla="*/ 1202690 h 1209675"/>
              <a:gd name="connisteX39" fmla="*/ 171450 w 628650"/>
              <a:gd name="connsiteY39" fmla="*/ 1207770 h 1209675"/>
              <a:gd name="connisteX40" fmla="*/ 106680 w 628650"/>
              <a:gd name="connsiteY40" fmla="*/ 1200150 h 1209675"/>
              <a:gd name="connisteX41" fmla="*/ 42545 w 628650"/>
              <a:gd name="connsiteY41" fmla="*/ 1202690 h 1209675"/>
              <a:gd name="connisteX42" fmla="*/ 0 w 628650"/>
              <a:gd name="connsiteY42" fmla="*/ 1209675 h 1209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</a:cxnLst>
            <a:rect l="l" t="t" r="r" b="b"/>
            <a:pathLst>
              <a:path w="628650" h="1209675">
                <a:moveTo>
                  <a:pt x="0" y="1209675"/>
                </a:moveTo>
                <a:lnTo>
                  <a:pt x="23495" y="1145540"/>
                </a:lnTo>
                <a:lnTo>
                  <a:pt x="47625" y="1081405"/>
                </a:lnTo>
                <a:lnTo>
                  <a:pt x="73660" y="1017270"/>
                </a:lnTo>
                <a:lnTo>
                  <a:pt x="97155" y="952500"/>
                </a:lnTo>
                <a:lnTo>
                  <a:pt x="123825" y="888365"/>
                </a:lnTo>
                <a:lnTo>
                  <a:pt x="147320" y="824230"/>
                </a:lnTo>
                <a:lnTo>
                  <a:pt x="178435" y="760095"/>
                </a:lnTo>
                <a:lnTo>
                  <a:pt x="213995" y="695325"/>
                </a:lnTo>
                <a:lnTo>
                  <a:pt x="242570" y="631190"/>
                </a:lnTo>
                <a:lnTo>
                  <a:pt x="266700" y="567055"/>
                </a:lnTo>
                <a:lnTo>
                  <a:pt x="292735" y="502920"/>
                </a:lnTo>
                <a:lnTo>
                  <a:pt x="318770" y="438150"/>
                </a:lnTo>
                <a:lnTo>
                  <a:pt x="349885" y="374015"/>
                </a:lnTo>
                <a:lnTo>
                  <a:pt x="382905" y="309880"/>
                </a:lnTo>
                <a:lnTo>
                  <a:pt x="421005" y="245745"/>
                </a:lnTo>
                <a:lnTo>
                  <a:pt x="459105" y="180975"/>
                </a:lnTo>
                <a:lnTo>
                  <a:pt x="499745" y="116840"/>
                </a:lnTo>
                <a:lnTo>
                  <a:pt x="540385" y="52705"/>
                </a:lnTo>
                <a:lnTo>
                  <a:pt x="604520" y="0"/>
                </a:lnTo>
                <a:lnTo>
                  <a:pt x="628650" y="64770"/>
                </a:lnTo>
                <a:lnTo>
                  <a:pt x="626110" y="128905"/>
                </a:lnTo>
                <a:lnTo>
                  <a:pt x="607060" y="193040"/>
                </a:lnTo>
                <a:lnTo>
                  <a:pt x="585470" y="257175"/>
                </a:lnTo>
                <a:lnTo>
                  <a:pt x="561975" y="321945"/>
                </a:lnTo>
                <a:lnTo>
                  <a:pt x="537845" y="386080"/>
                </a:lnTo>
                <a:lnTo>
                  <a:pt x="514350" y="450215"/>
                </a:lnTo>
                <a:lnTo>
                  <a:pt x="495300" y="514350"/>
                </a:lnTo>
                <a:lnTo>
                  <a:pt x="478155" y="579120"/>
                </a:lnTo>
                <a:lnTo>
                  <a:pt x="459105" y="643255"/>
                </a:lnTo>
                <a:lnTo>
                  <a:pt x="435610" y="707390"/>
                </a:lnTo>
                <a:lnTo>
                  <a:pt x="414020" y="771525"/>
                </a:lnTo>
                <a:lnTo>
                  <a:pt x="392430" y="836295"/>
                </a:lnTo>
                <a:lnTo>
                  <a:pt x="373380" y="900430"/>
                </a:lnTo>
                <a:lnTo>
                  <a:pt x="349885" y="964565"/>
                </a:lnTo>
                <a:lnTo>
                  <a:pt x="325755" y="1028700"/>
                </a:lnTo>
                <a:lnTo>
                  <a:pt x="299720" y="1093470"/>
                </a:lnTo>
                <a:lnTo>
                  <a:pt x="271145" y="1157605"/>
                </a:lnTo>
                <a:lnTo>
                  <a:pt x="235585" y="1202690"/>
                </a:lnTo>
                <a:lnTo>
                  <a:pt x="171450" y="1207770"/>
                </a:lnTo>
                <a:lnTo>
                  <a:pt x="106680" y="1200150"/>
                </a:lnTo>
                <a:lnTo>
                  <a:pt x="42545" y="1202690"/>
                </a:lnTo>
                <a:lnTo>
                  <a:pt x="0" y="120967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9549765" y="3979545"/>
            <a:ext cx="273685" cy="76200"/>
          </a:xfrm>
          <a:custGeom>
            <a:avLst/>
            <a:gdLst>
              <a:gd name="connisteX0" fmla="*/ 23495 w 273685"/>
              <a:gd name="connsiteY0" fmla="*/ 69215 h 76200"/>
              <a:gd name="connisteX1" fmla="*/ 87630 w 273685"/>
              <a:gd name="connsiteY1" fmla="*/ 71120 h 76200"/>
              <a:gd name="connisteX2" fmla="*/ 152400 w 273685"/>
              <a:gd name="connsiteY2" fmla="*/ 66675 h 76200"/>
              <a:gd name="connisteX3" fmla="*/ 216535 w 273685"/>
              <a:gd name="connsiteY3" fmla="*/ 76200 h 76200"/>
              <a:gd name="connisteX4" fmla="*/ 266700 w 273685"/>
              <a:gd name="connsiteY4" fmla="*/ 66675 h 76200"/>
              <a:gd name="connisteX5" fmla="*/ 273685 w 273685"/>
              <a:gd name="connsiteY5" fmla="*/ 0 h 76200"/>
              <a:gd name="connisteX6" fmla="*/ 0 w 273685"/>
              <a:gd name="connsiteY6" fmla="*/ 35560 h 76200"/>
              <a:gd name="connisteX7" fmla="*/ 23495 w 273685"/>
              <a:gd name="connsiteY7" fmla="*/ 69215 h 76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273685" h="76200">
                <a:moveTo>
                  <a:pt x="23495" y="69215"/>
                </a:moveTo>
                <a:lnTo>
                  <a:pt x="87630" y="71120"/>
                </a:lnTo>
                <a:lnTo>
                  <a:pt x="152400" y="66675"/>
                </a:lnTo>
                <a:lnTo>
                  <a:pt x="216535" y="76200"/>
                </a:lnTo>
                <a:lnTo>
                  <a:pt x="266700" y="66675"/>
                </a:lnTo>
                <a:lnTo>
                  <a:pt x="273685" y="0"/>
                </a:lnTo>
                <a:lnTo>
                  <a:pt x="0" y="35560"/>
                </a:lnTo>
                <a:lnTo>
                  <a:pt x="23495" y="6921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9454515" y="2962910"/>
            <a:ext cx="461645" cy="823595"/>
          </a:xfrm>
          <a:custGeom>
            <a:avLst/>
            <a:gdLst>
              <a:gd name="connisteX0" fmla="*/ 192405 w 461645"/>
              <a:gd name="connsiteY0" fmla="*/ 114300 h 823595"/>
              <a:gd name="connisteX1" fmla="*/ 0 w 461645"/>
              <a:gd name="connsiteY1" fmla="*/ 823595 h 823595"/>
              <a:gd name="connisteX2" fmla="*/ 461645 w 461645"/>
              <a:gd name="connsiteY2" fmla="*/ 0 h 823595"/>
              <a:gd name="connisteX3" fmla="*/ 192405 w 461645"/>
              <a:gd name="connsiteY3" fmla="*/ 114300 h 8235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461645" h="823595">
                <a:moveTo>
                  <a:pt x="192405" y="114300"/>
                </a:moveTo>
                <a:lnTo>
                  <a:pt x="0" y="823595"/>
                </a:lnTo>
                <a:lnTo>
                  <a:pt x="461645" y="0"/>
                </a:lnTo>
                <a:lnTo>
                  <a:pt x="192405" y="114300"/>
                </a:lnTo>
                <a:close/>
              </a:path>
            </a:pathLst>
          </a:custGeom>
          <a:solidFill>
            <a:srgbClr val="FFFF00">
              <a:alpha val="28000"/>
            </a:srgb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456420" y="3020060"/>
            <a:ext cx="328930" cy="754380"/>
          </a:xfrm>
          <a:custGeom>
            <a:avLst/>
            <a:gdLst>
              <a:gd name="connisteX0" fmla="*/ 0 w 328930"/>
              <a:gd name="connsiteY0" fmla="*/ 754380 h 754380"/>
              <a:gd name="connisteX1" fmla="*/ 190500 w 328930"/>
              <a:gd name="connsiteY1" fmla="*/ 52070 h 754380"/>
              <a:gd name="connisteX2" fmla="*/ 328930 w 328930"/>
              <a:gd name="connsiteY2" fmla="*/ 0 h 754380"/>
              <a:gd name="connisteX3" fmla="*/ 0 w 328930"/>
              <a:gd name="connsiteY3" fmla="*/ 754380 h 7543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8930" h="754380">
                <a:moveTo>
                  <a:pt x="0" y="754380"/>
                </a:moveTo>
                <a:lnTo>
                  <a:pt x="190500" y="52070"/>
                </a:lnTo>
                <a:lnTo>
                  <a:pt x="328930" y="0"/>
                </a:lnTo>
                <a:lnTo>
                  <a:pt x="0" y="754380"/>
                </a:lnTo>
                <a:close/>
              </a:path>
            </a:pathLst>
          </a:custGeom>
          <a:solidFill>
            <a:schemeClr val="accent6">
              <a:alpha val="6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>
            <a:off x="9454515" y="3048635"/>
            <a:ext cx="261620" cy="718820"/>
          </a:xfrm>
          <a:custGeom>
            <a:avLst/>
            <a:gdLst>
              <a:gd name="connisteX0" fmla="*/ 0 w 261620"/>
              <a:gd name="connsiteY0" fmla="*/ 718820 h 718820"/>
              <a:gd name="connisteX1" fmla="*/ 190500 w 261620"/>
              <a:gd name="connsiteY1" fmla="*/ 26035 h 718820"/>
              <a:gd name="connisteX2" fmla="*/ 261620 w 261620"/>
              <a:gd name="connsiteY2" fmla="*/ 0 h 718820"/>
              <a:gd name="connisteX3" fmla="*/ 0 w 261620"/>
              <a:gd name="connsiteY3" fmla="*/ 718820 h 7188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61620" h="718820">
                <a:moveTo>
                  <a:pt x="0" y="718820"/>
                </a:moveTo>
                <a:lnTo>
                  <a:pt x="190500" y="26035"/>
                </a:lnTo>
                <a:lnTo>
                  <a:pt x="261620" y="0"/>
                </a:lnTo>
                <a:lnTo>
                  <a:pt x="0" y="718820"/>
                </a:lnTo>
                <a:close/>
              </a:path>
            </a:pathLst>
          </a:custGeom>
          <a:solidFill>
            <a:srgbClr val="FF0000">
              <a:alpha val="42000"/>
            </a:srgb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2512695"/>
            <a:ext cx="905510" cy="15430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 rot="900000">
            <a:off x="9245600" y="3573145"/>
            <a:ext cx="75565" cy="187325"/>
          </a:xfrm>
          <a:prstGeom prst="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372870" y="83820"/>
            <a:ext cx="2781935" cy="417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25" y="20320"/>
            <a:ext cx="1930400" cy="5765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2038985" y="181610"/>
            <a:ext cx="10196830" cy="415290"/>
            <a:chOff x="3207" y="286"/>
            <a:chExt cx="16058" cy="654"/>
          </a:xfrm>
        </p:grpSpPr>
        <p:sp>
          <p:nvSpPr>
            <p:cNvPr id="12" name="文本框 11"/>
            <p:cNvSpPr txBox="1"/>
            <p:nvPr/>
          </p:nvSpPr>
          <p:spPr>
            <a:xfrm>
              <a:off x="5285" y="286"/>
              <a:ext cx="2665" cy="65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35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既有方案与关键不足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790" y="2374900"/>
            <a:ext cx="1356360" cy="210883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555115" y="83820"/>
            <a:ext cx="2599690" cy="4787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" y="98425"/>
            <a:ext cx="1931670" cy="57721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2038985" y="181610"/>
            <a:ext cx="10196830" cy="415290"/>
            <a:chOff x="3207" y="286"/>
            <a:chExt cx="16058" cy="654"/>
          </a:xfrm>
        </p:grpSpPr>
        <p:sp>
          <p:nvSpPr>
            <p:cNvPr id="12" name="文本框 11"/>
            <p:cNvSpPr txBox="1"/>
            <p:nvPr/>
          </p:nvSpPr>
          <p:spPr>
            <a:xfrm>
              <a:off x="5285" y="286"/>
              <a:ext cx="2665" cy="65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35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既有方案与关键不足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58440" y="2815590"/>
            <a:ext cx="697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 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项目目标与研究内容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974215" y="144780"/>
            <a:ext cx="2828290" cy="5086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91835" y="2992120"/>
            <a:ext cx="1461770" cy="436880"/>
          </a:xfrm>
          <a:prstGeom prst="rect">
            <a:avLst/>
          </a:prstGeom>
          <a:solidFill>
            <a:srgbClr val="FAFAFC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440170" y="2564130"/>
            <a:ext cx="473075" cy="1328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57065" y="4952365"/>
            <a:ext cx="1461770" cy="486410"/>
          </a:xfrm>
          <a:prstGeom prst="rect">
            <a:avLst/>
          </a:prstGeom>
          <a:solidFill>
            <a:srgbClr val="FAFAFC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951095" y="4524375"/>
            <a:ext cx="473075" cy="132842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2038985" y="235585"/>
            <a:ext cx="10196830" cy="417195"/>
            <a:chOff x="3207" y="371"/>
            <a:chExt cx="16058" cy="657"/>
          </a:xfrm>
        </p:grpSpPr>
        <p:sp>
          <p:nvSpPr>
            <p:cNvPr id="12" name="文本框 11"/>
            <p:cNvSpPr txBox="1"/>
            <p:nvPr/>
          </p:nvSpPr>
          <p:spPr>
            <a:xfrm>
              <a:off x="8026" y="371"/>
              <a:ext cx="2513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58440" y="2815590"/>
            <a:ext cx="697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 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技术路线与系统架构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00165" y="2390775"/>
            <a:ext cx="1549400" cy="1955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6692265" y="2391410"/>
            <a:ext cx="812800" cy="1917065"/>
          </a:xfrm>
          <a:custGeom>
            <a:avLst/>
            <a:gdLst>
              <a:gd name="connisteX0" fmla="*/ 0 w 812800"/>
              <a:gd name="connsiteY0" fmla="*/ 1917065 h 1917065"/>
              <a:gd name="connisteX1" fmla="*/ 0 w 812800"/>
              <a:gd name="connsiteY1" fmla="*/ 812165 h 1917065"/>
              <a:gd name="connisteX2" fmla="*/ 812800 w 812800"/>
              <a:gd name="connsiteY2" fmla="*/ 0 h 1917065"/>
              <a:gd name="connisteX3" fmla="*/ 0 w 812800"/>
              <a:gd name="connsiteY3" fmla="*/ 1917065 h 19170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812800" h="1917065">
                <a:moveTo>
                  <a:pt x="0" y="1917065"/>
                </a:moveTo>
                <a:lnTo>
                  <a:pt x="0" y="812165"/>
                </a:lnTo>
                <a:lnTo>
                  <a:pt x="812800" y="0"/>
                </a:lnTo>
                <a:lnTo>
                  <a:pt x="0" y="1917065"/>
                </a:lnTo>
                <a:close/>
              </a:path>
            </a:pathLst>
          </a:custGeom>
          <a:solidFill>
            <a:srgbClr val="FFFF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6703695" y="2689225"/>
            <a:ext cx="495300" cy="1612900"/>
          </a:xfrm>
          <a:custGeom>
            <a:avLst/>
            <a:gdLst>
              <a:gd name="connisteX0" fmla="*/ 0 w 495300"/>
              <a:gd name="connsiteY0" fmla="*/ 1612900 h 1612900"/>
              <a:gd name="connisteX1" fmla="*/ 0 w 495300"/>
              <a:gd name="connsiteY1" fmla="*/ 469900 h 1612900"/>
              <a:gd name="connisteX2" fmla="*/ 495300 w 495300"/>
              <a:gd name="connsiteY2" fmla="*/ 0 h 1612900"/>
              <a:gd name="connisteX3" fmla="*/ 0 w 495300"/>
              <a:gd name="connsiteY3" fmla="*/ 1612900 h 1612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495300" h="1612900">
                <a:moveTo>
                  <a:pt x="0" y="1612900"/>
                </a:moveTo>
                <a:lnTo>
                  <a:pt x="0" y="469900"/>
                </a:lnTo>
                <a:lnTo>
                  <a:pt x="495300" y="0"/>
                </a:lnTo>
                <a:lnTo>
                  <a:pt x="0" y="161290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6703695" y="2962275"/>
            <a:ext cx="208915" cy="1320800"/>
          </a:xfrm>
          <a:custGeom>
            <a:avLst/>
            <a:gdLst>
              <a:gd name="connisteX0" fmla="*/ 0 w 196850"/>
              <a:gd name="connsiteY0" fmla="*/ 1320800 h 1320800"/>
              <a:gd name="connisteX1" fmla="*/ 0 w 196850"/>
              <a:gd name="connsiteY1" fmla="*/ 196850 h 1320800"/>
              <a:gd name="connisteX2" fmla="*/ 196850 w 196850"/>
              <a:gd name="connsiteY2" fmla="*/ 0 h 1320800"/>
              <a:gd name="connisteX3" fmla="*/ 0 w 196850"/>
              <a:gd name="connsiteY3" fmla="*/ 1320800 h 132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6850" h="1320800">
                <a:moveTo>
                  <a:pt x="0" y="1320800"/>
                </a:moveTo>
                <a:lnTo>
                  <a:pt x="0" y="196850"/>
                </a:lnTo>
                <a:lnTo>
                  <a:pt x="196850" y="0"/>
                </a:lnTo>
                <a:lnTo>
                  <a:pt x="0" y="1320800"/>
                </a:lnTo>
                <a:close/>
              </a:path>
            </a:pathLst>
          </a:custGeom>
          <a:solidFill>
            <a:srgbClr val="FF0000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05300" y="4735195"/>
            <a:ext cx="1790700" cy="584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1300">
                <a:solidFill>
                  <a:srgbClr val="11193B"/>
                </a:solidFill>
                <a:latin typeface="黑体" panose="02010609060101010101" charset="-122"/>
                <a:ea typeface="黑体" panose="02010609060101010101" charset="-122"/>
              </a:rPr>
              <a:t>牵引销</a:t>
            </a:r>
            <a:r>
              <a:rPr lang="en-US" altLang="zh-CN" sz="1300">
                <a:solidFill>
                  <a:srgbClr val="11193B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300">
                <a:solidFill>
                  <a:srgbClr val="11193B"/>
                </a:solidFill>
                <a:latin typeface="黑体" panose="02010609060101010101" charset="-122"/>
                <a:ea typeface="黑体" panose="02010609060101010101" charset="-122"/>
              </a:rPr>
              <a:t>挂车后轴中点</a:t>
            </a:r>
            <a:r>
              <a:rPr lang="en-US" altLang="zh-CN" sz="1300">
                <a:solidFill>
                  <a:srgbClr val="11193B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300">
                <a:solidFill>
                  <a:srgbClr val="11193B"/>
                </a:solidFill>
                <a:latin typeface="黑体" panose="02010609060101010101" charset="-122"/>
                <a:ea typeface="黑体" panose="02010609060101010101" charset="-122"/>
              </a:rPr>
              <a:t>牵引车前后轴中点</a:t>
            </a:r>
            <a:endParaRPr lang="zh-CN" altLang="en-US" sz="1300">
              <a:solidFill>
                <a:srgbClr val="11193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71840" y="4735195"/>
            <a:ext cx="1542415" cy="584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sz="1300">
                <a:latin typeface="黑体" panose="02010609060101010101" charset="-122"/>
                <a:ea typeface="黑体" panose="02010609060101010101" charset="-122"/>
              </a:rPr>
              <a:t>雷达</a:t>
            </a:r>
            <a:r>
              <a:rPr lang="en-US" altLang="zh-CN" sz="130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300" b="1"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en-US" altLang="zh-CN" sz="130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1300">
                <a:latin typeface="黑体" panose="02010609060101010101" charset="-122"/>
                <a:ea typeface="黑体" panose="02010609060101010101" charset="-122"/>
              </a:rPr>
              <a:t>视觉目标判定</a:t>
            </a:r>
            <a:endParaRPr lang="zh-CN" altLang="en-US" sz="13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5795010"/>
            <a:ext cx="11628120" cy="840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74625" y="6468745"/>
            <a:ext cx="11864340" cy="0"/>
          </a:xfrm>
          <a:prstGeom prst="line">
            <a:avLst/>
          </a:prstGeom>
          <a:ln w="19050">
            <a:solidFill>
              <a:srgbClr val="1532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096135" y="152400"/>
            <a:ext cx="2987675" cy="4559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4" name="文本框 3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301875" y="205740"/>
            <a:ext cx="2987675" cy="4559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96135" y="152400"/>
            <a:ext cx="2987675" cy="4559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83810" y="1621790"/>
            <a:ext cx="7048500" cy="38538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06715" y="955675"/>
            <a:ext cx="2965450" cy="666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965325"/>
            <a:ext cx="7313295" cy="29425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64515" y="2447925"/>
                <a:ext cx="3879850" cy="533400"/>
              </a:xfrm>
              <a:prstGeom prst="rect">
                <a:avLst/>
              </a:prstGeom>
              <a:solidFill>
                <a:srgbClr val="FCFCFC"/>
              </a:solidFill>
            </p:spPr>
            <p:txBody>
              <a:bodyPr wrap="square" rtlCol="0">
                <a:noAutofit/>
              </a:bodyPr>
              <a:p>
                <a14:m>
                  <m:oMath xmlns:m="http://schemas.openxmlformats.org/officeDocument/2006/math">
                    <m:r>
                      <a:rPr lang="en-US" altLang="zh-CN" sz="1200" b="1" i="1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1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𝑩</m:t>
                        </m:r>
                      </m:sub>
                    </m:sSub>
                    <m:r>
                      <a:rPr lang="en-US" altLang="zh-CN" sz="1200" b="1" i="1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1200" b="1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𝒚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𝑩</m:t>
                        </m:r>
                      </m:sub>
                    </m:sSub>
                    <m:r>
                      <a:rPr lang="en-US" altLang="zh-CN" sz="1200" b="1" i="1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12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</a:t>
                </a:r>
                <a:r>
                  <a:rPr lang="zh-CN" altLang="en-US" sz="1200" b="1"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  <a:sym typeface="+mn-ea"/>
                  </a:rPr>
                  <a:t>：</a:t>
                </a:r>
                <a:r>
                  <a:rPr lang="zh-CN" altLang="en-US" sz="12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挂车后轴中点坐标；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𝜽</m:t>
                    </m:r>
                  </m:oMath>
                </a14:m>
                <a:r>
                  <a:rPr lang="zh-CN" altLang="en-US" sz="1200" b="1"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</a:rPr>
                  <a:t>：牵引车航向角</a:t>
                </a:r>
                <a:r>
                  <a:rPr lang="zh-CN" altLang="en-US" sz="1200" b="1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𝝓</m:t>
                    </m:r>
                  </m:oMath>
                </a14:m>
                <a:r>
                  <a:rPr lang="zh-CN" altLang="en-US" sz="1200" b="1"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</a:rPr>
                  <a:t>：铰接角</a:t>
                </a:r>
                <a:endParaRPr lang="zh-CN" altLang="en-US" sz="1200" b="1"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15" y="2447925"/>
                <a:ext cx="3879850" cy="5334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2171065" y="1895475"/>
            <a:ext cx="1981200" cy="368300"/>
          </a:xfrm>
          <a:prstGeom prst="rect">
            <a:avLst/>
          </a:prstGeom>
          <a:solidFill>
            <a:srgbClr val="FCFCFC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60270" y="1919605"/>
          <a:ext cx="1572895" cy="33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1016000" imgH="215900" progId="Equation.KSEE3">
                  <p:embed/>
                </p:oleObj>
              </mc:Choice>
              <mc:Fallback>
                <p:oleObj name="" r:id="rId5" imgW="10160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0270" y="1919605"/>
                        <a:ext cx="1572895" cy="33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10" name="文本框 9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113155" y="5351780"/>
                <a:ext cx="882015" cy="3683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  </m:t>
                    </m:r>
                    <m:r>
                      <a:rPr lang="en-US" altLang="zh-CN" b="1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𝝓</m:t>
                    </m:r>
                  </m:oMath>
                </a14:m>
                <a:r>
                  <a:rPr lang="en-US" altLang="zh-CN"/>
                  <a:t>:</a:t>
                </a:r>
                <a:endParaRPr lang="en-US" altLang="zh-CN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55" y="5351780"/>
                <a:ext cx="882015" cy="3683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2160270" y="5351780"/>
            <a:ext cx="1081405" cy="368300"/>
          </a:xfrm>
          <a:prstGeom prst="rect">
            <a:avLst/>
          </a:prstGeom>
          <a:solidFill>
            <a:srgbClr val="FDFCFD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020" y="5409565"/>
            <a:ext cx="943610" cy="253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708" t="13141" r="35056" b="22536"/>
          <a:stretch>
            <a:fillRect/>
          </a:stretch>
        </p:blipFill>
        <p:spPr>
          <a:xfrm>
            <a:off x="5485765" y="1687195"/>
            <a:ext cx="5259070" cy="3938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44835" y="1596390"/>
            <a:ext cx="1088390" cy="1663700"/>
          </a:xfrm>
          <a:prstGeom prst="rect">
            <a:avLst/>
          </a:prstGeom>
          <a:solidFill>
            <a:srgbClr val="FBFCFD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187575" y="160020"/>
            <a:ext cx="2987675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744835" y="3914775"/>
            <a:ext cx="1089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4B1A0"/>
                </a:solidFill>
              </a:rPr>
              <a:t>BodyNow</a:t>
            </a:r>
            <a:endParaRPr lang="en-US" altLang="zh-CN">
              <a:solidFill>
                <a:srgbClr val="C4B1A0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6" name="文本框 5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126615" y="152400"/>
            <a:ext cx="3322955" cy="4933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4" name="文本框 3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4145" y="5810250"/>
            <a:ext cx="11948160" cy="931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51925" y="5391150"/>
            <a:ext cx="190500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023787"/>
                </a:solidFill>
                <a:latin typeface="黑体" panose="02010609060101010101" charset="-122"/>
                <a:ea typeface="黑体" panose="02010609060101010101" charset="-122"/>
              </a:rPr>
              <a:t>    </a:t>
            </a:r>
            <a:r>
              <a:rPr lang="zh-CN" altLang="en-US" sz="1400" b="1">
                <a:solidFill>
                  <a:srgbClr val="04255E"/>
                </a:solidFill>
                <a:latin typeface="黑体" panose="02010609060101010101" charset="-122"/>
                <a:ea typeface="黑体" panose="02010609060101010101" charset="-122"/>
              </a:rPr>
              <a:t>原理图草稿</a:t>
            </a:r>
            <a:endParaRPr lang="zh-CN" altLang="en-US" sz="1400" b="1">
              <a:solidFill>
                <a:srgbClr val="04255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63845" y="3844290"/>
            <a:ext cx="1866900" cy="2089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0285" y="3623310"/>
            <a:ext cx="17589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63845" y="2434590"/>
            <a:ext cx="1866900" cy="277495"/>
          </a:xfrm>
          <a:prstGeom prst="rect">
            <a:avLst/>
          </a:prstGeom>
          <a:solidFill>
            <a:srgbClr val="F4F0FC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617085" y="2937510"/>
            <a:ext cx="3208020" cy="28727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484755" y="220980"/>
            <a:ext cx="2987675" cy="4559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12" name="文本框 11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530475" y="221615"/>
            <a:ext cx="3254375" cy="4933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77255" y="4020185"/>
            <a:ext cx="966470" cy="919480"/>
          </a:xfrm>
          <a:prstGeom prst="rect">
            <a:avLst/>
          </a:prstGeom>
          <a:solidFill>
            <a:srgbClr val="F4F7FB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380000">
            <a:off x="6211570" y="3891280"/>
            <a:ext cx="490855" cy="119951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4" name="文本框 3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606675" y="152400"/>
            <a:ext cx="2987675" cy="5168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204720" cy="6584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14765" y="2867025"/>
            <a:ext cx="1802765" cy="292100"/>
          </a:xfrm>
          <a:prstGeom prst="rect">
            <a:avLst/>
          </a:prstGeom>
          <a:solidFill>
            <a:srgbClr val="F9FAFC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355" y="2867025"/>
            <a:ext cx="1137920" cy="248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2265" y="5908675"/>
            <a:ext cx="11563350" cy="812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34565" y="5349875"/>
            <a:ext cx="3517900" cy="368300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995170" y="235585"/>
            <a:ext cx="10196830" cy="417195"/>
            <a:chOff x="3207" y="371"/>
            <a:chExt cx="16058" cy="657"/>
          </a:xfrm>
        </p:grpSpPr>
        <p:sp>
          <p:nvSpPr>
            <p:cNvPr id="7" name="文本框 6"/>
            <p:cNvSpPr txBox="1"/>
            <p:nvPr/>
          </p:nvSpPr>
          <p:spPr>
            <a:xfrm>
              <a:off x="10622" y="371"/>
              <a:ext cx="2535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58440" y="2815590"/>
            <a:ext cx="6971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  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创新点与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项目特色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326005" y="137795"/>
            <a:ext cx="3460115" cy="5727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0345" y="6008370"/>
            <a:ext cx="11811000" cy="711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" y="77470"/>
            <a:ext cx="2159000" cy="6451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3540" y="4434840"/>
            <a:ext cx="3302000" cy="1371600"/>
          </a:xfrm>
          <a:prstGeom prst="rect">
            <a:avLst/>
          </a:prstGeom>
          <a:solidFill>
            <a:srgbClr val="FEFEFE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4920000">
            <a:off x="1606550" y="3634105"/>
            <a:ext cx="1096645" cy="30905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89345" y="2035175"/>
            <a:ext cx="3302000" cy="1525270"/>
          </a:xfrm>
          <a:prstGeom prst="rect">
            <a:avLst/>
          </a:prstGeom>
          <a:solidFill>
            <a:srgbClr val="FEFEFE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708" t="21140" r="66630" b="31701"/>
          <a:stretch>
            <a:fillRect/>
          </a:stretch>
        </p:blipFill>
        <p:spPr>
          <a:xfrm>
            <a:off x="6697980" y="2035175"/>
            <a:ext cx="1651635" cy="1556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3540" y="2035175"/>
            <a:ext cx="3302000" cy="1525270"/>
          </a:xfrm>
          <a:prstGeom prst="rect">
            <a:avLst/>
          </a:prstGeom>
          <a:solidFill>
            <a:srgbClr val="FEFEFE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35" y="2233930"/>
            <a:ext cx="1207770" cy="1007110"/>
          </a:xfrm>
          <a:prstGeom prst="rect">
            <a:avLst/>
          </a:prstGeom>
        </p:spPr>
      </p:pic>
      <p:sp>
        <p:nvSpPr>
          <p:cNvPr id="11" name="虚尾箭头 10"/>
          <p:cNvSpPr/>
          <p:nvPr/>
        </p:nvSpPr>
        <p:spPr>
          <a:xfrm>
            <a:off x="1513205" y="2545715"/>
            <a:ext cx="419100" cy="396240"/>
          </a:xfrm>
          <a:prstGeom prst="striped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clrChange>
              <a:clrFrom>
                <a:srgbClr val="F1F3F7">
                  <a:alpha val="100000"/>
                </a:srgbClr>
              </a:clrFrom>
              <a:clrTo>
                <a:srgbClr val="F1F3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7720" y="2299335"/>
            <a:ext cx="1527810" cy="94170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994535" y="235585"/>
            <a:ext cx="10196830" cy="417195"/>
            <a:chOff x="3206" y="371"/>
            <a:chExt cx="16058" cy="657"/>
          </a:xfrm>
        </p:grpSpPr>
        <p:sp>
          <p:nvSpPr>
            <p:cNvPr id="7" name="文本框 6"/>
            <p:cNvSpPr txBox="1"/>
            <p:nvPr/>
          </p:nvSpPr>
          <p:spPr>
            <a:xfrm>
              <a:off x="13301" y="371"/>
              <a:ext cx="2170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06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技术路线与系统架构 |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01240" y="2815590"/>
            <a:ext cx="88182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  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项目实施计划与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预期成果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304415" y="160655"/>
            <a:ext cx="3684905" cy="4933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56250" y="6169660"/>
            <a:ext cx="4305935" cy="368300"/>
          </a:xfrm>
          <a:prstGeom prst="rect">
            <a:avLst/>
          </a:prstGeom>
          <a:solidFill>
            <a:srgbClr val="F0F5F9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995170" y="236855"/>
            <a:ext cx="10196830" cy="417195"/>
            <a:chOff x="3207" y="373"/>
            <a:chExt cx="16058" cy="657"/>
          </a:xfrm>
        </p:grpSpPr>
        <p:sp>
          <p:nvSpPr>
            <p:cNvPr id="4" name="文本框 3"/>
            <p:cNvSpPr txBox="1"/>
            <p:nvPr/>
          </p:nvSpPr>
          <p:spPr>
            <a:xfrm>
              <a:off x="15596" y="373"/>
              <a:ext cx="2954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288540" y="98425"/>
            <a:ext cx="3785870" cy="5937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98425"/>
            <a:ext cx="2113280" cy="6311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50305" y="4744720"/>
            <a:ext cx="5433060" cy="640715"/>
          </a:xfrm>
          <a:prstGeom prst="rect">
            <a:avLst/>
          </a:prstGeom>
          <a:solidFill>
            <a:srgbClr val="FBF6F6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995170" y="236855"/>
            <a:ext cx="10196830" cy="417195"/>
            <a:chOff x="3207" y="373"/>
            <a:chExt cx="16058" cy="657"/>
          </a:xfrm>
        </p:grpSpPr>
        <p:sp>
          <p:nvSpPr>
            <p:cNvPr id="4" name="文本框 3"/>
            <p:cNvSpPr txBox="1"/>
            <p:nvPr/>
          </p:nvSpPr>
          <p:spPr>
            <a:xfrm>
              <a:off x="15596" y="373"/>
              <a:ext cx="2954" cy="65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07" y="470"/>
              <a:ext cx="16058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研究背景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既有方案与关键不足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项目目标与研究内容 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|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技术路线与系统架构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创新点与项目特色</a:t>
              </a:r>
              <a:r>
                <a:rPr lang="en-US" altLang="zh-CN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| </a:t>
              </a: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项目实施计划与预期成果</a:t>
              </a:r>
              <a:endParaRPr lang="zh-CN" altLang="en-US" sz="1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73755" y="2815590"/>
            <a:ext cx="88182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恳请各位评委批评指正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64770"/>
            <a:ext cx="2424430" cy="6483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67360" y="840105"/>
            <a:ext cx="11817985" cy="570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参考文献：</a:t>
            </a:r>
            <a:endParaRPr lang="zh-CN" altLang="en-US"/>
          </a:p>
          <a:p>
            <a:endParaRPr lang="zh-CN" altLang="en-US"/>
          </a:p>
          <a:p>
            <a:r>
              <a:rPr lang="zh-CN" altLang="en-US" sz="1000"/>
              <a:t>[1]  陈诗佳. 半挂车路口转弯时刮倒一对母子"内轮差"是主因.</a:t>
            </a:r>
            <a:endParaRPr lang="zh-CN" altLang="en-US" sz="1000"/>
          </a:p>
          <a:p>
            <a:r>
              <a:rPr lang="zh-CN" altLang="en-US" sz="1000"/>
              <a:t>     新蓝网·浙江网络广播电视台, 2016.</a:t>
            </a:r>
            <a:endParaRPr lang="zh-CN" altLang="en-US" sz="1000"/>
          </a:p>
          <a:p>
            <a:r>
              <a:rPr lang="en-US" altLang="zh-CN" sz="1000"/>
              <a:t>     http://n.cztv.com/news/12014073.html</a:t>
            </a:r>
            <a:endParaRPr lang="en-US" altLang="zh-CN" sz="1000"/>
          </a:p>
          <a:p>
            <a:endParaRPr lang="en-US" altLang="zh-CN" sz="1000"/>
          </a:p>
          <a:p>
            <a:r>
              <a:rPr lang="zh-CN" altLang="en-US" sz="1000"/>
              <a:t>[2]  朱文. 了解"内轮差"，远离转弯的大货车、工程车.</a:t>
            </a:r>
            <a:endParaRPr lang="zh-CN" altLang="en-US" sz="1000"/>
          </a:p>
          <a:p>
            <a:r>
              <a:rPr lang="zh-CN" altLang="en-US" sz="1000"/>
              <a:t>     海宁日报, 2012.</a:t>
            </a:r>
            <a:endParaRPr lang="zh-CN" altLang="en-US" sz="1000"/>
          </a:p>
          <a:p>
            <a:r>
              <a:rPr lang="en-US" altLang="zh-CN" sz="1000"/>
              <a:t>     http://hnrb.zjol.com.cn/hnrb/html/2012-12/13/content_207927.htm</a:t>
            </a:r>
            <a:endParaRPr lang="en-US" altLang="zh-CN" sz="1000"/>
          </a:p>
          <a:p>
            <a:endParaRPr lang="en-US" altLang="zh-CN" sz="1000"/>
          </a:p>
          <a:p>
            <a:r>
              <a:rPr lang="zh-CN" altLang="en-US" sz="1000"/>
              <a:t>[3]  褚正清, 刘家保, 宋星. 货车右转弯内轮差的建模研究.</a:t>
            </a:r>
            <a:endParaRPr lang="zh-CN" altLang="en-US" sz="1000"/>
          </a:p>
          <a:p>
            <a:r>
              <a:rPr lang="zh-CN" altLang="en-US" sz="1000"/>
              <a:t>     河北北方学院学报, 2015, 31(5): 49-52.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[4]  李铁洪, 吴华金. 长直线接小半径曲线公路交通事故成因及预防对策.</a:t>
            </a:r>
            <a:endParaRPr lang="zh-CN" altLang="en-US" sz="1000"/>
          </a:p>
          <a:p>
            <a:r>
              <a:rPr lang="zh-CN" altLang="en-US" sz="1000"/>
              <a:t>     中国公路学报, 2007, 20(1): 35-40.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[5]  陈思嘉. 汽车转弯时由内轮差引发的交通事故原因建模与分析.</a:t>
            </a:r>
            <a:endParaRPr lang="zh-CN" altLang="en-US" sz="1000"/>
          </a:p>
          <a:p>
            <a:r>
              <a:rPr lang="zh-CN" altLang="en-US" sz="1000"/>
              <a:t>     数学通报, 2013, 52(12): 55-57.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[6]  李俊峰, 张雄, 任格学等. 理论力学.</a:t>
            </a:r>
            <a:endParaRPr lang="zh-CN" altLang="en-US" sz="1000"/>
          </a:p>
          <a:p>
            <a:r>
              <a:rPr lang="zh-CN" altLang="en-US" sz="1000"/>
              <a:t>     北京: 清华大学出版社, 2001.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[7]  唐恒望. 内轮差数学建模.</a:t>
            </a:r>
            <a:endParaRPr lang="zh-CN" altLang="en-US" sz="1000"/>
          </a:p>
          <a:p>
            <a:r>
              <a:rPr lang="zh-CN" altLang="en-US" sz="1000"/>
              <a:t>     百度文库, 2007.</a:t>
            </a:r>
            <a:endParaRPr lang="zh-CN" altLang="en-US" sz="1000"/>
          </a:p>
          <a:p>
            <a:r>
              <a:rPr lang="en-US" altLang="zh-CN" sz="1000"/>
              <a:t>     http://wenku.baidu.com/link?url=xEHJoIba1dvqiTfQ4gXrx5PtapBR0iY1r8dxFhCkdEkJfrkmtkrlwWlNWNmRTHaF3HOtgy4W1gMgGpCqon6PbGUmV4OZ6SLfX5i6ljWw1G</a:t>
            </a:r>
            <a:endParaRPr lang="en-US" altLang="zh-CN" sz="1000"/>
          </a:p>
          <a:p>
            <a:endParaRPr lang="en-US" altLang="zh-CN" sz="1000"/>
          </a:p>
          <a:p>
            <a:r>
              <a:rPr lang="zh-CN" altLang="en-US" sz="1000"/>
              <a:t>[8]  范朔. 车辆内轮差问题的优化分析.</a:t>
            </a:r>
            <a:endParaRPr lang="zh-CN" altLang="en-US" sz="1000"/>
          </a:p>
          <a:p>
            <a:r>
              <a:rPr lang="zh-CN" altLang="en-US" sz="1000"/>
              <a:t>     科技世界, 2016, 9: 31-34.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[9]  万禄义. 公交车"内轮差"，不容忽视.</a:t>
            </a:r>
            <a:endParaRPr lang="zh-CN" altLang="en-US" sz="1000"/>
          </a:p>
          <a:p>
            <a:r>
              <a:rPr lang="zh-CN" altLang="en-US" sz="1000"/>
              <a:t>     人民公交, 2012, (1): 71.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[10] 后桥转向系统.</a:t>
            </a:r>
            <a:endParaRPr lang="zh-CN" altLang="en-US" sz="1000"/>
          </a:p>
          <a:p>
            <a:r>
              <a:rPr lang="zh-CN" altLang="en-US" sz="1000"/>
              <a:t>     保时捷(中国), 2016.</a:t>
            </a:r>
            <a:endParaRPr lang="zh-CN" altLang="en-US" sz="1000"/>
          </a:p>
          <a:p>
            <a:r>
              <a:rPr lang="en-US" altLang="zh-CN" sz="1000"/>
              <a:t>     http://www.porsche.com/china/zh/models/panamera/panamera-4s/drive-chassis/rear-axle-steering/</a:t>
            </a:r>
            <a:endParaRPr lang="en-US" altLang="zh-CN" sz="1000"/>
          </a:p>
          <a:p>
            <a:endParaRPr lang="en-US" altLang="zh-CN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41605"/>
            <a:ext cx="4492625" cy="58801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5" y="1874520"/>
            <a:ext cx="12191365" cy="2956560"/>
          </a:xfrm>
          <a:prstGeom prst="rect">
            <a:avLst/>
          </a:prstGeom>
          <a:gradFill>
            <a:gsLst>
              <a:gs pos="100000">
                <a:srgbClr val="02378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73755" y="2815590"/>
            <a:ext cx="88182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恳请各位评委批评指正</a:t>
            </a:r>
            <a:endParaRPr lang="zh-CN" altLang="en-US" sz="48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1135" y="776605"/>
            <a:ext cx="11634470" cy="0"/>
          </a:xfrm>
          <a:prstGeom prst="line">
            <a:avLst/>
          </a:prstGeom>
          <a:ln w="19050">
            <a:solidFill>
              <a:srgbClr val="02378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2400" y="141605"/>
            <a:ext cx="11818620" cy="870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48" y="368300"/>
            <a:ext cx="4355770" cy="11645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2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3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4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5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6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7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8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9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10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11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ags/tag12.xml><?xml version="1.0" encoding="utf-8"?>
<p:tagLst xmlns:p="http://schemas.openxmlformats.org/presentationml/2006/main">
  <p:tag name="KSO_WM_DIAGRAM_VIRTUALLY_FRAME" val="{&quot;height&quot;:514.3014173228346,&quot;left&quot;:256.7232283464566,&quot;top&quot;:81.19858267716536,&quot;width&quot;:703.276771653543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2255</Words>
  <Application>WPS 演示</Application>
  <PresentationFormat>On-screen Show (4:3)</PresentationFormat>
  <Paragraphs>138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Arial</vt:lpstr>
      <vt:lpstr>黑体</vt:lpstr>
      <vt:lpstr>微软雅黑</vt:lpstr>
      <vt:lpstr>Calibri</vt:lpstr>
      <vt:lpstr>Arial Unicode MS</vt:lpstr>
      <vt:lpstr>Cambria Math</vt:lpstr>
      <vt:lpstr>MS Mincho</vt:lpstr>
      <vt:lpstr>AMGDT</vt:lpstr>
      <vt:lpstr>Office Theme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clearlove</cp:lastModifiedBy>
  <cp:revision>28</cp:revision>
  <dcterms:created xsi:type="dcterms:W3CDTF">2013-01-27T09:14:00Z</dcterms:created>
  <dcterms:modified xsi:type="dcterms:W3CDTF">2026-06-14T03:41:50Z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9ED15F2F69B34CD0B0F8910D8BEB96AC_12</vt:lpwstr>
  </property>
</Properties>
</file>